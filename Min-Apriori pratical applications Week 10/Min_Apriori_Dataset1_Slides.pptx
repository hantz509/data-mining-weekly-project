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D181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D1810"/>
                </a:solidFill>
                <a:latin typeface="Calibri"/>
              </a:rPr>
              <a:t>1-itemset supports  (min_sup = 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Support</c:v>
                </c:pt>
              </c:strCache>
            </c:strRef>
          </c:tx>
          <c:spPr>
            <a:solidFill>
              <a:srgbClr val="D9B3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5C3A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Espresso</c:v>
                </c:pt>
                <c:pt idx="1">
                  <c:v>Croissant</c:v>
                </c:pt>
                <c:pt idx="2">
                  <c:v>Muffin</c:v>
                </c:pt>
                <c:pt idx="3">
                  <c:v>Latte</c:v>
                </c:pt>
                <c:pt idx="4">
                  <c:v>Tea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8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91-4B81-9A99-CFE6B9146C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79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0D5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1810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2D1810"/>
                </a:solidFill>
                <a:latin typeface="Calibri"/>
              </a:rPr>
              <a:t>Frequent 2-itemset supports (6 pairs survive of 10)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Joint support</c:v>
                </c:pt>
              </c:strCache>
            </c:strRef>
          </c:tx>
          <c:spPr>
            <a:solidFill>
              <a:srgbClr val="6B8E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5C3A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Esp ∧ Cro</c:v>
                </c:pt>
                <c:pt idx="1">
                  <c:v>Mfn ∧ Lte</c:v>
                </c:pt>
                <c:pt idx="2">
                  <c:v>Cro ∧ Tea</c:v>
                </c:pt>
                <c:pt idx="3">
                  <c:v>Mfn ∧ Esp</c:v>
                </c:pt>
                <c:pt idx="4">
                  <c:v>Tea ∧ Esp</c:v>
                </c:pt>
                <c:pt idx="5">
                  <c:v>Lte ∧ Cro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3E-45D7-875F-ABC7078F9D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900" b="0" i="0" u="none" strike="noStrike">
                <a:solidFill>
                  <a:srgbClr val="8A79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0D5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9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84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" y="457200"/>
            <a:ext cx="777240" cy="777240"/>
          </a:xfrm>
          <a:prstGeom prst="ellipse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 ·  WEEK 10 GROUP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8183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Min-Apriori for Quantitative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Association Rule Mining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868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  ·  Retail Market Basket Analysis (Discrete Quantities)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4160520"/>
            <a:ext cx="3657600" cy="0"/>
          </a:xfrm>
          <a:prstGeom prst="line">
            <a:avLst/>
          </a:prstGeom>
          <a:noFill/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 = 3</a:t>
            </a:r>
            <a:r>
              <a:rPr lang="en-US" sz="1300" dirty="0">
                <a:solidFill>
                  <a:srgbClr val="B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 transactions   ·   5 items   ·   12 rules generated		Hantz 1113534 / Max 1113535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Min-Apriori?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Apriori discards magnitude — Min-Apriori preserves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Apriori (binary)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presence/absence: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2377440"/>
            <a:ext cx="3291840" cy="502920"/>
          </a:xfrm>
          <a:prstGeom prst="rect">
            <a:avLst/>
          </a:prstGeom>
          <a:solidFill>
            <a:srgbClr val="F0E6D6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Espresso × 5,  Croissant × 1   →   {1, 1}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1089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5-espresso run looks identical to a 1-espresso run.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Co-occurrence intensity is lost.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offers built on this miss volume signals.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1417320"/>
            <a:ext cx="3977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417320"/>
            <a:ext cx="73152" cy="3200400"/>
          </a:xfrm>
          <a:prstGeom prst="rect">
            <a:avLst/>
          </a:prstGeom>
          <a:solidFill>
            <a:srgbClr val="6B8E7B"/>
          </a:solidFill>
          <a:ln w="12700">
            <a:solidFill>
              <a:srgbClr val="6B8E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2763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(quantitative)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029200" y="20574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joint signal by the weakest member: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0" y="2377440"/>
            <a:ext cx="3291840" cy="502920"/>
          </a:xfrm>
          <a:prstGeom prst="rect">
            <a:avLst/>
          </a:prstGeom>
          <a:solidFill>
            <a:srgbClr val="F0E6D6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206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3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Espresso × 5,  Croissant × 1   →   min = 1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029200" y="31089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6B8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support reflects matched, balanced co-purchase.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6B8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carries through to confidence.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6B8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actionable bundles for combo design.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Algorithm in Three Formulas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= Apriori with the min bounding function.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1-ITEMSET SUPPORT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Sup({i})  =  Σₜ  wₜ,ᵢ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the column across transactions.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41148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k-ITEMSET SUPPORT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Sup({i₁…iₖ})  =  Σₜ  min(wₜ,ᵢ₁ , … , wₜ,ᵢₖ)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transaction, take the minimum across the items, then sum.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51760" cy="41148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Conf(A → B)  =  Sup(A ∪ B)  /  Sup(A)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926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ratio — the directional metric for rule strength.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0E6D6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8872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property still holds.  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S' ⊆ S,  min over fewer items can only be ≥ min over more,  so  Sup(S') ≥ Sup(S).  This justifies (k−1)-subset pruning.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Level-wise: each pass either grows the frequent set or terminates.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1243584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C3A2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719072"/>
            <a:ext cx="365760" cy="365760"/>
          </a:xfrm>
          <a:prstGeom prst="ellipse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skip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Continuous: L₁ norm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59636" y="2446020"/>
            <a:ext cx="109728" cy="0"/>
          </a:xfrm>
          <a:prstGeom prst="line">
            <a:avLst/>
          </a:prstGeom>
          <a:noFill/>
          <a:ln w="15240">
            <a:solidFill>
              <a:srgbClr val="8A79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73936" y="1554480"/>
            <a:ext cx="1243584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C3A2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21992" y="1719072"/>
            <a:ext cx="365760" cy="365760"/>
          </a:xfrm>
          <a:prstGeom prst="ellipse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2199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19656" y="219456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min_sup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19656" y="26060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threshold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(here: 3)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22092" y="2446020"/>
            <a:ext cx="109728" cy="0"/>
          </a:xfrm>
          <a:prstGeom prst="line">
            <a:avLst/>
          </a:prstGeom>
          <a:noFill/>
          <a:ln w="15240">
            <a:solidFill>
              <a:srgbClr val="8A79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36392" y="1554480"/>
            <a:ext cx="1243584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5C3A2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84448" y="1719072"/>
            <a:ext cx="365760" cy="365760"/>
          </a:xfrm>
          <a:prstGeom prst="ellipse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8444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82112" y="219456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Itemsets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82112" y="26060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sums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min_sup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4548" y="2446020"/>
            <a:ext cx="109728" cy="0"/>
          </a:xfrm>
          <a:prstGeom prst="line">
            <a:avLst/>
          </a:prstGeom>
          <a:noFill/>
          <a:ln w="15240">
            <a:solidFill>
              <a:srgbClr val="8A79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98848" y="1554480"/>
            <a:ext cx="1243584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8E7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46904" y="1719072"/>
            <a:ext cx="365760" cy="365760"/>
          </a:xfrm>
          <a:prstGeom prst="ellipse">
            <a:avLst/>
          </a:prstGeom>
          <a:solidFill>
            <a:srgbClr val="6B8E7B"/>
          </a:solidFill>
          <a:ln w="12700">
            <a:solidFill>
              <a:srgbClr val="6B8E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4690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44568" y="219456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 → L₂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26060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per txn,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47004" y="2446020"/>
            <a:ext cx="109728" cy="0"/>
          </a:xfrm>
          <a:prstGeom prst="line">
            <a:avLst/>
          </a:prstGeom>
          <a:noFill/>
          <a:ln w="15240">
            <a:solidFill>
              <a:srgbClr val="8A79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61304" y="1554480"/>
            <a:ext cx="1243584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8E7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09360" y="1719072"/>
            <a:ext cx="365760" cy="365760"/>
          </a:xfrm>
          <a:prstGeom prst="ellipse">
            <a:avLst/>
          </a:prstGeom>
          <a:solidFill>
            <a:srgbClr val="6B8E7B"/>
          </a:solidFill>
          <a:ln w="12700">
            <a:solidFill>
              <a:srgbClr val="6B8E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07024" y="219456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Cₖ → Lₖ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07024" y="26060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Apriori-prune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09460" y="2446020"/>
            <a:ext cx="109728" cy="0"/>
          </a:xfrm>
          <a:prstGeom prst="line">
            <a:avLst/>
          </a:prstGeom>
          <a:noFill/>
          <a:ln w="15240">
            <a:solidFill>
              <a:srgbClr val="8A79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23760" y="1554480"/>
            <a:ext cx="1243584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71816" y="1719072"/>
            <a:ext cx="365760" cy="3657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71816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69480" y="2194560"/>
            <a:ext cx="1152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Gen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69480" y="260604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93192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8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iterate &amp; prune  ↻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0E6D6"/>
          </a:solidFill>
          <a:ln w="12700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steps    </a:t>
            </a:r>
            <a:r>
              <a:rPr lang="en-US" sz="1200" b="1" dirty="0">
                <a:solidFill>
                  <a:srgbClr val="6B8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core    </a:t>
            </a: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stage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customer baskets at a bakery &amp; coffee shop  ·  cells = quantity purchased.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212080" cy="31089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Espresso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Muffin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PER-ITEM TOTALS</a:t>
            </a:r>
            <a:endParaRPr lang="en-US" sz="1100" dirty="0"/>
          </a:p>
        </p:txBody>
      </p:sp>
      <p:sp>
        <p:nvSpPr>
          <p:cNvPr id="4" name="Shape 3"/>
          <p:cNvSpPr/>
          <p:nvPr/>
        </p:nvSpPr>
        <p:spPr>
          <a:xfrm>
            <a:off x="5943600" y="1691640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0" y="1691640"/>
            <a:ext cx="54864" cy="457200"/>
          </a:xfrm>
          <a:prstGeom prst="rect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80760" y="16916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1691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0" y="2221992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2221992"/>
            <a:ext cx="54864" cy="457200"/>
          </a:xfrm>
          <a:prstGeom prst="rect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2221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22219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43600" y="2752344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0" y="2752344"/>
            <a:ext cx="54864" cy="457200"/>
          </a:xfrm>
          <a:prstGeom prst="rect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275234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80960" y="27523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43600" y="3282696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943600" y="3282696"/>
            <a:ext cx="54864" cy="457200"/>
          </a:xfrm>
          <a:prstGeom prst="rect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80760" y="328269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0" y="32826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43600" y="3813048"/>
            <a:ext cx="2743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943600" y="3813048"/>
            <a:ext cx="54864" cy="457200"/>
          </a:xfrm>
          <a:prstGeom prst="rect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80760" y="38130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680960" y="38130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· Frequent 1-Itemsets  (L₁)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each column;  retain those with support  ≥  3.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00400" cy="324612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ITEMS PASS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5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the min_sup = 3 cut.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L₁  =  { Espresso, Croissant, Muffin, Latte, Tea }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023360" y="1417320"/>
          <a:ext cx="46634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· Frequent 2-Itemsets  (L₂)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transaction, take the min across the pair;  sum across transactions.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246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Espresso, Croissant }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31720"/>
          <a:ext cx="3566160" cy="158800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min(Esp, Cro)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min(2,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min(0, 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79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min(1, 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min(3, 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8A79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min(2, 3)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A1F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160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  =  2 + 0 + 1 + 0 + 2  =  5    ✓  ≥ 3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617720" y="1417320"/>
          <a:ext cx="40690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6B8DE-689D-BE68-F502-F1E0264A2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48" y="407584"/>
            <a:ext cx="7187412" cy="432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5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4E0D4-AA90-6798-8AEA-728ECB06B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161" y="0"/>
            <a:ext cx="3572374" cy="2972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6AABB6-798C-B586-31EC-0C2DAD5AE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225" y="3092815"/>
            <a:ext cx="5765549" cy="179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77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 · Higher Orders  (L₃ = ∅)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Apriori-prune kills almost everything;  the lone survivor fails the support test.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324612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27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pruning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candidate {X, Y, Z} is pruned if any of its 2-subsets is missing from L₂.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51460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200" dirty="0">
                <a:solidFill>
                  <a:srgbClr val="2A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{Espresso, Muffin, Latte}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✗  pruned  —  </a:t>
            </a:r>
            <a:r>
              <a:rPr lang="en-US" sz="1200" dirty="0">
                <a:solidFill>
                  <a:srgbClr val="2A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{Espresso, Latte}</a:t>
            </a:r>
            <a:r>
              <a:rPr lang="en-US" sz="12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∉ L₂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5C3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survivor of pruning: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A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Espresso, Croissant, Tea 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73152" cy="3246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83480" y="15727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THE SUPPORT TEST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874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Espresso, Croissant, Tea }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83480" y="2331720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  =  min(2,2,1) + min(0,1,0)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min(1,2,2) + min(3,0,1)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+ min(2,3,0)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A1F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 1 + 0 + 1 + 0 + 0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 2  &lt;  3   ✗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83480" y="4069080"/>
            <a:ext cx="3520440" cy="502920"/>
          </a:xfrm>
          <a:prstGeom prst="rect">
            <a:avLst/>
          </a:prstGeom>
          <a:solidFill>
            <a:srgbClr val="F0E6D6"/>
          </a:solidFill>
          <a:ln w="12700">
            <a:solidFill>
              <a:srgbClr val="F0E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83480" y="40690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2D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L₃ = ∅   →   algorithm terminates.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Highlighted Rules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picked for largest joint support, one for highest confidence — different stories.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50292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R1  ·  largest joint support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Espresso }   →   { Croissant 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62.5%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  =  Sup({E, C}) / Sup({E})  =  5 / 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breakfast pairing — bought together in matched quantities, suggesting per-person co-purchase.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402336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417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R2  ·  highest confidence 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057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8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Latte }   →   { Muffin 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75.0%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663440" y="3657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  =  Sup({L, M}) / Sup({L})  =  3 /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40233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Latte buyers than Espresso buyers — but the ones who do are very reliably also buying Muffins.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Min-Apriori vs Classical Apriori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same rules — Min-Apriori rewards quantity-balanced co-occurrence.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486400" cy="24688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Min-Apriori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3A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{Espresso} → {Croissant}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{Latte} → {Muffin}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+8.3 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{Tea} → {Croissant}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+8.3 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A1F1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{Tea} → {Espresso}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5C3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A79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+8.3 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17320"/>
            <a:ext cx="2560320" cy="260604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636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THEY DIVERGE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63640" y="18745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reports higher confidence whenever co-occurring items appear in matched, significant quantities — not just any joint presence.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63640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signal for combo-offer design.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0E6D6"/>
          </a:solidFill>
          <a:ln w="12700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1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{Espresso} → {Croissant} agree?  </a:t>
            </a:r>
            <a:r>
              <a:rPr lang="en-US" sz="1100" dirty="0">
                <a:solidFill>
                  <a:srgbClr val="2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always co-occurs with comparable Croissant quantities, so the binary projection loses no information here.</a:t>
            </a:r>
            <a:endParaRPr lang="en-US" sz="1100" dirty="0"/>
          </a:p>
        </p:txBody>
      </p:sp>
      <p:sp>
        <p:nvSpPr>
          <p:cNvPr id="4" name="Shape 8"/>
          <p:cNvSpPr/>
          <p:nvPr/>
        </p:nvSpPr>
        <p:spPr>
          <a:xfrm>
            <a:off x="457200" y="4864608"/>
            <a:ext cx="8229600" cy="0"/>
          </a:xfrm>
          <a:prstGeom prst="line">
            <a:avLst/>
          </a:prstGeom>
          <a:noFill/>
          <a:ln w="9525">
            <a:solidFill>
              <a:srgbClr val="E0D5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 ·  Dataset 1: Retail Market Basket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15200" y="49194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502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Min-Apriori on Dataset 1  ·  in three sentences.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554480"/>
            <a:ext cx="2514600" cy="237744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43100" y="1280160"/>
            <a:ext cx="548640" cy="548640"/>
          </a:xfrm>
          <a:prstGeom prst="ellipse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431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worked as designed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L₁ = 5 items, L₂ = 6 pairs, L₃ = ∅, 12 rules generated. Manual derivation matches the function output exactly.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2514600" cy="237744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40580" y="1280160"/>
            <a:ext cx="548640" cy="548640"/>
          </a:xfrm>
          <a:prstGeom prst="ellipse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405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30752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 function is the whole idea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697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co-occurrence is bounded by the weakest member. Items bought together in matched amounts get rewarded.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2514600" cy="2377440"/>
          </a:xfrm>
          <a:prstGeom prst="rect">
            <a:avLst/>
          </a:prstGeom>
          <a:solidFill>
            <a:srgbClr val="5C3A21"/>
          </a:solidFill>
          <a:ln w="12700">
            <a:solidFill>
              <a:srgbClr val="5C3A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38060" y="1280160"/>
            <a:ext cx="548640" cy="548640"/>
          </a:xfrm>
          <a:prstGeom prst="ellipse">
            <a:avLst/>
          </a:prstGeom>
          <a:solidFill>
            <a:srgbClr val="D9B382"/>
          </a:solidFill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380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28232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earns its keep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21579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rules where binary projection loses information, Min-Apriori adds 8.3 pp of confidence — a real difference for combo-offer design.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297680"/>
            <a:ext cx="3657600" cy="0"/>
          </a:xfrm>
          <a:prstGeom prst="line">
            <a:avLst/>
          </a:prstGeom>
          <a:noFill/>
          <a:ln w="12700">
            <a:solidFill>
              <a:srgbClr val="D9B3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B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1231</Words>
  <Application>Microsoft Office PowerPoint</Application>
  <PresentationFormat>On-screen Show (16:9)</PresentationFormat>
  <Paragraphs>236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Min-Apriori — Retail Market Basket</dc:title>
  <dc:subject>PptxGenJS Presentation</dc:subject>
  <dc:creator>Data Mining Group Project</dc:creator>
  <cp:lastModifiedBy>古弘恩</cp:lastModifiedBy>
  <cp:revision>2</cp:revision>
  <dcterms:created xsi:type="dcterms:W3CDTF">2026-05-10T10:26:11Z</dcterms:created>
  <dcterms:modified xsi:type="dcterms:W3CDTF">2026-05-10T14:27:11Z</dcterms:modified>
</cp:coreProperties>
</file>